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SolarFit 화면에 보이는 모든 항목의 데이터 출처와 계산 방식을 정리한 발표 첨부 설명서입니다. 핵심 메시지: 모든 숫자는 공공데이터에서 계산하고, AI(RAG)는 '말로 된 조례'를 검색·요약·판정하는 데만 씁니다. 도메인을 모르는 분도 이해할 수 있도록 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한 줄로 자동 분기합니다. (1) 끝에 번지 숫자가 있으면 '지번'으로 보고 부지 단일 진단, (2) 질문에 충남 시군구명(당진·천안 등)이 있으면 그 지역 단위 진단, (3) 그 외 일반 질문은 충남 추천 랭킹. 화면이 하나라 사용자는 검색창에 자연어로 묻기만 하면 됩니다. 추천 리스트에서 일조/발전 관련 질문은 수익성 화면으로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7종 출처 상세 — ① KMAPP 경사면 일사량(.nc, SWDN_topo, 2016~2021 5년 평균·전국 시군구 격자). ② 한국전력 KEPCO 빅데이터 분산전원 API(변전소·변압기·배전선로 여유용량). ③ 국가법령정보 자치법규 본문검색(search=2)으로 수집해 4,251개 조항을 벡터DB(ChromaDB)에 적재. ④ 이격 수치는 조례 '별표'가 HWP 첨부라 olefile로 직접 추출. ⑤ VWorld(국토부) 토지이용계획 API는 필지 PNU로 조회(domain 파라미터 필수). ⑥ 전력거래소 KPX SMP/REC 2025 단가. ⑦ 행정안전부 코드로 시군구키(229건)·지번→PNU 변환. AI 비용은 질문당 약 0.9원.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diagnose(주소)를 한 번 호출하고 결과 dict를 카드에 매핑만 합니다. 내부에서 주소→지역코드 변환, 이격(별표 데이터 조회), 지자체 지원(RAG 검색), 용도지역(VWorld), 종합판정(LLM)을 모두 처리합니다. 즉 흩어진 5개 출처를 모아 AI가 마지막에 2~3문장으로 종합합니다. 용도지역/농지는 실존 필지(PNU)가 있어야 나오므로, 시군구 단위 진단에서는 '지번 입력 시'로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이격 기준은 data/byeolpyo/setback.json(충남 15개 시군구)에서 옵니다. 난이도는 주거밀집 최대 이격 기준으로 분류(500m↑=높음 / 300m=보통 / 200m↓·없음=낮음). 조문에 있는 곳도 있고, 당진·보령·홍성·태안처럼 조문엔 없고 별표(HWP 첨부)에만 있어 olefile로 직접 추출한 곳도 있습니다. 용도지역·농지는 VWorld 토지이용계획에서 가져와 계획관리=가능/농림·농업진흥=불가로 매핑. 핵심: 기준거리는 제공하지만 실제 이격거리는 GIS가 있어야 재므로 '실측 필요'로 정직하게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엔진이 부지에 따라 다르게 판정함을 보여줍니다. 왼쪽 충곡리 200은 계획관리지역·농지 없음이라 '가능' 쪽. 오른쪽 서산 부장리 100은 '농림지역'(태양광 원칙 불가)·농지 해당이라 제약이 큰 부지입니다. 둘 다 실제 VWorld·조례 데이터로 나온 결과입니다. 참고: 현재 LLM 종합판정이 농림지역도 '조건부 가능'으로 다소 약하게 보는 경향이 있어, 발표 전 '농림/농업진흥=원칙 불가' 규칙 보강을 검토 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지자체 지원은 하이브리드 검색(의미 임베딩 + 키워드)을 RRF로 합쳐 정답 조항을 회수하고, 시군구 60% + 광역 40% 쿼터로 그 지역 자체 조례를 반드시 포함합니다. 답변 끝 [N] 번호로 실제 인용한 조항만 출처로 표기해 환각을 줄입니다. 계통은 KEPCO 응답에서 각 지점의 연계가능량 = min(변전소·변압기·배전선로) 여유로 보고, 그 시군구 최댓값을 단일 연계 최대량으로 씁니다. 99kW 기준 약 9,000kW 이상이면 '충분'.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발전량 공식: 연 일사량(MJ/㎡) ÷ 3.6 = 표준 발전시간(h), × PR 0.85(시스템효율 보정), × 99kW = 연간 발전량(kWh). 예) 충곡리 200(논산)은 약 1,428h, 약 141,300kWh, 이용률 약 16%. 일조량은 KMAPP 경사면 일사량(전국 시군구·5년 평균)이라 시군구마다 고유값이며, 과거 ASOS 방식의 '인근 관측소 보강'이 불필요해졌습니다.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SMP 수익 = 발전량 × SMP 단가(KPX 2025 연평균 약 112.68원/kWh). REC 수익 = (발전량/1000) × 가중치 1.2 × REC 단가. 연 예상수익에서 손익분기(투자비÷연수익)·20년 총수익·예금(3%) 대비를 계산합니다. 투자비 2.2억·PR 0.85는 가정치이며 팀 협의 대기. 과거 '일사량 보정(+1,014만)'은 발전량에 일조가 이미 반영돼 이중계산 소지가 있어 제거했습니다 — '가정은 가정이라고 밝힌다'가 신뢰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종합점수 = 0.40×일조 + 0.35×계통 + 0.25×규제. 일조·계통은 충남 15개 시군구 안에서 (값−최저)/(최고−최저)×100으로 정규화한 상대점수, 규제는 난이도 등급(낮음 100/보통 60/높음 25). 화면의 작은 '일조 40·계통 35·규제 25'는 각 항목 기여분이며 그 합이 종합점수입니다. 전국 절대평가가 아니라 충남 내 상대 줄세우기입니다.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질문에 '규제/계통/일조' 같은 의도 키워드가 있으면 그 기준으로 정렬합니다. 규제가 모두 같으면(예: 다 '낮음') 종합점수(일조+계통)로 동점을 가립니다 — 그래서 천안이 1위. 일조량 옆 ±%는 충남 평균 대비 편차로 +는 초록·−는 노랑. (전국 경사면 데이터라 시군구마다 일조가 달라 색이 갈림 — 예: 아산·천안 높음(+), 보령·서천 낮음(−)) 카드 우하단 ↗는 그 시군구 지역 진단으로 이동(내부적으로 URL 파라미터 라우팅)합니다.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원칙: AI(RAG)는 '말로 된 조례'를 읽어 지자체 지원·이격 기준 해석·종합 판정문을 만드는 데만 쓰고, 일조·계통·용도지역·수익 같은 숫자는 전부 공공데이터로 계산합니다. 이렇게 역할을 나눠 AI가 없는 수치를 지어내는 '환각'을 막습니다. 임베딩은 text-embedding-3-small, 생성은 gpt-4o-mini를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명확히 합니다. ① 이격 실거리·진입로·인근 변전소 매칭은 GIS가 없어 미제공('확인 필요'로 표시). ② 일조량은 전국 시군구 경사면 일사량(KMAPP 5년 평균) — 시군구 평균이라 부지 미시지형·차폐는 미반영. ③ 투자비·PR은 가정치(일사량 보정은 이중계산 소지로 제거). ④ 현재 충남 15개 시군구 대상(전국 확장 가능 구조). 의사결정 보조도구로서 한계를 숨기지 않는 것이 신뢰의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공공 API 7종 + 로컬 ChromaDB + OpenAI로 로컬 PC와 인터넷만으로 동작하고, 1주 운영비는 약 200원입니다. 확장 방향은 전국 시군구, 발전소 허가·보급현황 데이터, GIS 연계(이격 실측 거리)입니다.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태양광(99kW) 입지·수익 진단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01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화면 데이터 설명서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모든 숫자의 출처와 계산 방식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첨부 자료 · 공공데이터 7종 + RAG(AI)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한 줄 → 세 화면으로 자동 분기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3204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E4E9ED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3432048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입력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충남 논산시 … 충곡리 200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단일 진단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4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땅, 태양광 돼? 뭐가 걸려?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4736" y="1600200"/>
            <a:ext cx="343204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E4E9ED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4736" y="1600200"/>
            <a:ext cx="3432048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0768" y="192024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시군구명 포함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0768" y="2377440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당진에 변전소 여유 있어?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0768" y="3063240"/>
            <a:ext cx="297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진단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0768" y="3611880"/>
            <a:ext cx="2974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지역 규제·계통·지원은?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62544" y="1600200"/>
            <a:ext cx="343204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E4E9ED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2544" y="1600200"/>
            <a:ext cx="3432048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8576" y="192024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질문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8576" y="2377440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충남에서 좋은 곳 추천해줘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8576" y="3063240"/>
            <a:ext cx="297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리스트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8576" y="3611880"/>
            <a:ext cx="2974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 어디가 제일 좋아?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1206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공공데이터를 한 부지 기준으로 모아 자동 종합합니다.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숫자는 공공데이터에서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27664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438144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(공공)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화면에서 쓰이는 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일사량 (5년·경사면)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KMAPP .nc (기상청)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발전량 · 일조 점수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계통 여유용량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한국전력 KEPCO 빅데이터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계통 충분 / 부족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자치법규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국가법령정보 (law.go.kr)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지자체 지원 (RAG)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조례 별표 (이격 수치)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조례 첨부 HWP → 추출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이격거리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토지이용계획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VWorld (국토교통부)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용도지역 · 농지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SMP / REC 단가 (2025)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전력거래소 KPX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 계산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 · 법정동 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행정안전부 code.go.kr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지역키 · 지번→PNU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486400"/>
            <a:ext cx="11027664" cy="749808"/>
          </a:xfrm>
          <a:prstGeom prst="roundRect">
            <a:avLst>
              <a:gd name="adj" fmla="val 8537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5486400"/>
            <a:ext cx="10570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 </a:t>
            </a:r>
            <a:pPr indent="0" marL="0">
              <a:buNone/>
            </a:pPr>
            <a:r>
              <a:rPr lang="en-US" sz="12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text-embedding-3-small (의미검색) · gpt-4o-mini (답변·종합판정)</a:t>
            </a:r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AI는 검색·요약·판정만, 숫자는 전부 공공데이터 계산.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① 입지 진단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부지를 통째로 — 4가지를 한 번에</a:t>
            </a:r>
            <a:endParaRPr lang="en-US" sz="2700" dirty="0"/>
          </a:p>
        </p:txBody>
      </p:sp>
      <p:pic>
        <p:nvPicPr>
          <p:cNvPr id="4" name="Image 0" descr="C:\Projects\SolarFit\docs\shots\01_site_g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469578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2469578" cy="416052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93706" y="1481328"/>
            <a:ext cx="3922427" cy="1961388"/>
          </a:xfrm>
          <a:prstGeom prst="roundRect">
            <a:avLst>
              <a:gd name="adj" fmla="val 326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93706" y="1627632"/>
            <a:ext cx="64008" cy="16687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31450" y="1609344"/>
            <a:ext cx="3510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종합 판정 (AI)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31450" y="2066544"/>
            <a:ext cx="3465227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gpt-4o-mini가 이격·용도지역·지원을 종합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‘가능/조건부/어려움 + 근거 + 확인필요’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1450" y="3031236"/>
            <a:ext cx="26700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1178" y="30312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 (RAG 근거)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672165" y="1481328"/>
            <a:ext cx="3922427" cy="1961388"/>
          </a:xfrm>
          <a:prstGeom prst="roundRect">
            <a:avLst>
              <a:gd name="adj" fmla="val 326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72165" y="1627632"/>
            <a:ext cx="64008" cy="16687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909" y="1609344"/>
            <a:ext cx="3510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입지 규제 6칸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909" y="2066544"/>
            <a:ext cx="3465227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 4종 + 용도지역 + 농지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법으로 정한 기준과 토지 정보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09909" y="3031236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19637" y="303123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조례·별표 + VWorld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93706" y="3680460"/>
            <a:ext cx="3922427" cy="1961388"/>
          </a:xfrm>
          <a:prstGeom prst="roundRect">
            <a:avLst>
              <a:gd name="adj" fmla="val 326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93706" y="3826764"/>
            <a:ext cx="64008" cy="16687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1450" y="3808476"/>
            <a:ext cx="3510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지자체 지원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31450" y="4265676"/>
            <a:ext cx="3465227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조례를 검색해 보조금·융자 안내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조항까지 표기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31450" y="5230368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1178" y="5230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자치법규 RAG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672165" y="3680460"/>
            <a:ext cx="3922427" cy="1961388"/>
          </a:xfrm>
          <a:prstGeom prst="roundRect">
            <a:avLst>
              <a:gd name="adj" fmla="val 326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72165" y="3826764"/>
            <a:ext cx="64008" cy="16687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09909" y="3808476"/>
            <a:ext cx="3510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계통 여유용량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09909" y="4265676"/>
            <a:ext cx="3465227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지역 변전소·배전선로 여유(kW)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99kW 연계 가능 여부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909" y="5230368"/>
            <a:ext cx="15270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19637" y="523036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한국전력 KEPCO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576986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한 줄 → 5개 출처를 모아 → AI가 마지막에 종합합니다.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① 입지 규제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‘기준’은 제공하고, ‘실측’은 정직하게 표시</a:t>
            </a:r>
            <a:endParaRPr lang="en-US" sz="2700" dirty="0"/>
          </a:p>
        </p:txBody>
      </p:sp>
      <p:pic>
        <p:nvPicPr>
          <p:cNvPr id="4" name="Image 0" descr="C:\Projects\SolarFit\docs\shots\01_site_g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713822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2713822" cy="45720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37950" y="1481328"/>
            <a:ext cx="3800305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37950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75694" y="1609344"/>
            <a:ext cx="338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이격거리 (4종)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75694" y="2066544"/>
            <a:ext cx="334310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도로·주거·관광지·부지경계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조문(AI 검색)+별표(HWP) / 값=최소 기준거리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75694" y="3236976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5422" y="323697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조문 + 별표 HWP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94287" y="1481328"/>
            <a:ext cx="3800305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94287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32031" y="1609344"/>
            <a:ext cx="338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농지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32031" y="2066544"/>
            <a:ext cx="334310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계획관리=가능 / 농림·농업진흥=불가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필지(PNU) 단위 실시간 조회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32031" y="3236976"/>
            <a:ext cx="18699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1759" y="3236976"/>
            <a:ext cx="1687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VWorld 토지이용계획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37950" y="3886200"/>
            <a:ext cx="3800305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37950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75694" y="4014216"/>
            <a:ext cx="338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기준 vs 실측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975694" y="4471416"/>
            <a:ext cx="334310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기준거리는 제공 ✅  /  실제 거리는 GIS 필요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‘실측 필요’로 과장 없이 표시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94287" y="3886200"/>
            <a:ext cx="3800305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94287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32031" y="4014216"/>
            <a:ext cx="338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별표까지 판 차별점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32031" y="4471416"/>
            <a:ext cx="334310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당진·보령·홍성·태안은 조문엔 없고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별표(HWP)에만 있던 규제 — 끝까지 추출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① 대조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엔진, 부지마다 다른 판정</a:t>
            </a:r>
            <a:endParaRPr lang="en-US" sz="2700" dirty="0"/>
          </a:p>
        </p:txBody>
      </p:sp>
      <p:pic>
        <p:nvPicPr>
          <p:cNvPr id="4" name="Image 0" descr="C:\Projects\SolarFit\docs\shots\01_site_g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24424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554480"/>
            <a:ext cx="2442440" cy="41148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pic>
        <p:nvPicPr>
          <p:cNvPr id="6" name="Image 1" descr="C:\Projects\SolarFit\docs\shots\03_site_limi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2492393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0" y="1554480"/>
            <a:ext cx="2492393" cy="41148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5779008"/>
            <a:ext cx="2991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충곡리 200 — 계획관리지역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6126480"/>
            <a:ext cx="2991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농지 규제 없음 · 태양광 가능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0" y="5779008"/>
            <a:ext cx="304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서산 부장리 100 — 농림지역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0" y="6126480"/>
            <a:ext cx="304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농지 해당 · 제약 큼 (실데이터)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① 작동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지원(RAG) · 계통 여유(KEPCO)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지원 — RAG (검색증강생성)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28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98648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43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의미검색 + 키워드검색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98648" y="3401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조항 회수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98648" y="4315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E2F0F1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572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 + 근거 조항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 60% + 광역 40% 쿼터로 그 지역 자체 조례를 반드시 포함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14173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여유 — KEPCO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828800"/>
            <a:ext cx="5010912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01168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지점 연계가능 용량 = </a:t>
            </a:r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min(변전소, 변압기, 배전선로)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25146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 시군구의 최댓값 = 단일 연계 가능 최대량 (kW)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383280"/>
            <a:ext cx="5010912" cy="1371600"/>
          </a:xfrm>
          <a:prstGeom prst="roundRect">
            <a:avLst>
              <a:gd name="adj" fmla="val 5333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52044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99kW 연계 기준 판정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393192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</a:t>
            </a:r>
            <a:pPr indent="0" marL="0">
              <a:buNone/>
            </a:pPr>
            <a:r>
              <a:rPr lang="en-US" sz="13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(≥9,000kW)   </a:t>
            </a:r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pPr indent="0" marL="0">
              <a:buNone/>
            </a:pPr>
            <a:r>
              <a:rPr lang="en-US" sz="1300" b="1" dirty="0">
                <a:solidFill>
                  <a:srgbClr val="C056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34340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적재 없이 KEPCO 응답(JSON)을 직접 조회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② 수익성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발전량은 이렇게 나온다</a:t>
            </a:r>
            <a:endParaRPr lang="en-US" sz="2700" dirty="0"/>
          </a:p>
        </p:txBody>
      </p:sp>
      <p:pic>
        <p:nvPicPr>
          <p:cNvPr id="4" name="Image 0" descr="C:\Projects\SolarFit\docs\shots\02_revenue_g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408134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3408134" cy="45720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2262" y="1481328"/>
            <a:ext cx="3453149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2262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70006" y="1609344"/>
            <a:ext cx="3041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연 일사량 → 발전시간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70006" y="2066544"/>
            <a:ext cx="299594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일사량(MJ/㎡) ÷ 3.6 = 표준 발전시간(h)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70006" y="3236976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9734" y="323697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ASOS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141443" y="1481328"/>
            <a:ext cx="3453149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41443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9187" y="1609344"/>
            <a:ext cx="3041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시스템 효율 반영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79187" y="2066544"/>
            <a:ext cx="2995949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PR 0.85 (손실 보정) = 연간 발전시간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32262" y="3886200"/>
            <a:ext cx="3453149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2262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70006" y="4014216"/>
            <a:ext cx="3041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설비 용량 곱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70006" y="4471416"/>
            <a:ext cx="2995949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99kW = 연간 발전량(kWh)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41443" y="3886200"/>
            <a:ext cx="3453149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41443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79187" y="4014216"/>
            <a:ext cx="3041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79187" y="4471416"/>
            <a:ext cx="2995949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햇빛(기상청) → 발전시간 → 용량 곱 → 1년 발전량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② 수익성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· 투자지표 + 가정치(정직하게)</a:t>
            </a:r>
            <a:endParaRPr lang="en-US" sz="2700" dirty="0"/>
          </a:p>
        </p:txBody>
      </p:sp>
      <p:pic>
        <p:nvPicPr>
          <p:cNvPr id="4" name="Image 0" descr="C:\Projects\SolarFit\docs\shots\04_revenue_limi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438407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3438407" cy="45720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62535" y="1481328"/>
            <a:ext cx="3438012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62535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0279" y="1609344"/>
            <a:ext cx="30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SMP 수익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0279" y="2066544"/>
            <a:ext cx="29808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 × SMP 단가 (KPX 2025 연평균)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0279" y="3236976"/>
            <a:ext cx="14127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0007" y="3236976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전력거래소 KPX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156580" y="1481328"/>
            <a:ext cx="3438012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56580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324" y="1609344"/>
            <a:ext cx="30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 수익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94324" y="2066544"/>
            <a:ext cx="29808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(발전량/1000) × 가중치 1.2 × REC 단가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94324" y="3236976"/>
            <a:ext cx="14127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4052" y="3236976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전력거래소 KPX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62535" y="3886200"/>
            <a:ext cx="3438012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62535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0279" y="4014216"/>
            <a:ext cx="30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지표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0279" y="4471416"/>
            <a:ext cx="29808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연수익 → 손익분기 · 20년 총수익 · 예금 대비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56580" y="3886200"/>
            <a:ext cx="3438012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56580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94324" y="4014216"/>
            <a:ext cx="30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가정치 (협의 대기)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394324" y="4471416"/>
            <a:ext cx="29808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2.2억 · PR 0.85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 보정(+1,014만)은 이중계산 소지로 제거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③ 추천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종합점수 = 일조 40 + 계통 35 + 규제 25</a:t>
            </a:r>
            <a:endParaRPr lang="en-US" sz="2700" dirty="0"/>
          </a:p>
        </p:txBody>
      </p:sp>
      <p:pic>
        <p:nvPicPr>
          <p:cNvPr id="4" name="Image 0" descr="C:\Projects\SolarFit\docs\shots\05_list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22355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2223558" cy="45720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47686" y="1481328"/>
            <a:ext cx="4045437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47686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85430" y="1609344"/>
            <a:ext cx="3633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(합 100)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85430" y="2066544"/>
            <a:ext cx="3588237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일조량 40% · 계통 여유 35% · 규제 난이도 25%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9155" y="1481328"/>
            <a:ext cx="4045437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9155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86899" y="1609344"/>
            <a:ext cx="3633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(충남 내 상대평가)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86899" y="2066544"/>
            <a:ext cx="3588237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일조·계통 = (값−최저)/(최고−최저)×100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= 난이도(낮음100 / 보통60 / 높음25)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7686" y="3886200"/>
            <a:ext cx="4045437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7686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5430" y="4014216"/>
            <a:ext cx="3633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작은 숫자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85430" y="4471416"/>
            <a:ext cx="3588237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‘일조 40 · 계통 35 · 규제 25’ = 항목별 기여분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기여분의 합 = 종합점수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49155" y="3886200"/>
            <a:ext cx="4045437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49155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86899" y="4014216"/>
            <a:ext cx="3633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86899" y="4471416"/>
            <a:ext cx="3588237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 15개 시군구를 같은 잣대로 줄 세움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86899" y="5641848"/>
            <a:ext cx="1755648" cy="292608"/>
          </a:xfrm>
          <a:prstGeom prst="roundRect">
            <a:avLst>
              <a:gd name="adj" fmla="val 18750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96627" y="5641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 </a:t>
            </a:r>
            <a:pPr indent="0" marL="0">
              <a:buNone/>
            </a:pPr>
            <a:r>
              <a:rPr lang="en-US" sz="950" dirty="0">
                <a:solidFill>
                  <a:srgbClr val="0B5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기상청·KEPCO·조례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③ 추천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· 동점 · 색상으로 읽기</a:t>
            </a:r>
            <a:endParaRPr lang="en-US" sz="2700" dirty="0"/>
          </a:p>
        </p:txBody>
      </p:sp>
      <p:pic>
        <p:nvPicPr>
          <p:cNvPr id="4" name="Image 0" descr="C:\Projects\SolarFit\docs\shots\06_list_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910907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2910907" cy="4572000"/>
          </a:xfrm>
          <a:prstGeom prst="rect">
            <a:avLst/>
          </a:prstGeom>
          <a:ln w="12700">
            <a:solidFill>
              <a:srgbClr val="E4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5035" y="1481328"/>
            <a:ext cx="3701763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5035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72779" y="1609344"/>
            <a:ext cx="3290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의도 자동 인식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72779" y="2066544"/>
            <a:ext cx="3244563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‘규제/계통/일조’가 있으면 그 기준으로 정렬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92829" y="1481328"/>
            <a:ext cx="3701763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92829" y="1627632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0573" y="1609344"/>
            <a:ext cx="3290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동점 처리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30573" y="2066544"/>
            <a:ext cx="3244563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규제가 다 같으면(예: 다 ‘낮음’) 종합점수로 가름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천안 1위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5035" y="3886200"/>
            <a:ext cx="3701763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5035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2779" y="4014216"/>
            <a:ext cx="3290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의미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72779" y="4471416"/>
            <a:ext cx="3244563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±%(충남 평균 대비, +초록/−노랑)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충분/보통/부족 · 규제 낮음/보통/높음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92829" y="3886200"/>
            <a:ext cx="3701763" cy="2167128"/>
          </a:xfrm>
          <a:prstGeom prst="roundRect">
            <a:avLst>
              <a:gd name="adj" fmla="val 2954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92829" y="4032504"/>
            <a:ext cx="64008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0573" y="4014216"/>
            <a:ext cx="3290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이동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30573" y="4471416"/>
            <a:ext cx="3244563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우하단 ↗ → 그 시군구 지역 진단으로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AI이고, 무엇이 데이터인가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285232" cy="3383280"/>
          </a:xfrm>
          <a:prstGeom prst="roundRect">
            <a:avLst>
              <a:gd name="adj" fmla="val 2162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745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(AI 검색·생성)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4736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지원 (보조금·융자)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 ‘기준’ 해석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판정문 (가능/조건부/어려움)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85232" cy="338328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7452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데이터 (계산)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36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일조량 (기상청)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여유 (한국전력)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용도지역·농지 (VWorld)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(공식 계산)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3492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‘말로 된 조례’를 읽는 데만, 숫자는 전부 공공데이터 계산 — 환각(없는 수치 지어내기) 방지 설계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숨기지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73936"/>
            <a:ext cx="64008" cy="7040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45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실측은 미제공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50208" y="1645920"/>
            <a:ext cx="7370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 실거리·진입로·변전소 매칭은 GIS 필요 → ‘확인 필요’로 표시(기준만 제공)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16936"/>
            <a:ext cx="64008" cy="7040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일조량 정밀도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50208" y="2788920"/>
            <a:ext cx="7370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경사면(KMAPP 5년)이라 시군구 고유값 — 단 부지 미시지형·차폐는 미반영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59936"/>
            <a:ext cx="64008" cy="7040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31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가정치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3931920"/>
            <a:ext cx="7370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2.2억·PR 0.85는 팀 협의 대기값 (일사량 보정은 이중계산 소지로 제거)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5202936"/>
            <a:ext cx="64008" cy="7040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50208" y="5074920"/>
            <a:ext cx="7370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충남 15개 시군구 (전국 확장 가능한 구조)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6455664"/>
            <a:ext cx="11027664" cy="0"/>
          </a:xfrm>
          <a:prstGeom prst="line">
            <a:avLst/>
          </a:prstGeom>
          <a:noFill/>
          <a:ln w="12700">
            <a:solidFill>
              <a:srgbClr val="E4E9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 · 화면 데이터 설명서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4595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한 줄로 시작하는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사업성 진단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05840" y="36576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36576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200원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운영비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36576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 + 인터넷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6868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 환경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SolarFit 화면 데이터 설명서</dc:title>
  <dc:subject>PptxGenJS Presentation</dc:subject>
  <dc:creator>SolarFit</dc:creator>
  <cp:lastModifiedBy>SolarFit</cp:lastModifiedBy>
  <cp:revision>1</cp:revision>
  <dcterms:created xsi:type="dcterms:W3CDTF">2026-06-06T07:37:01Z</dcterms:created>
  <dcterms:modified xsi:type="dcterms:W3CDTF">2026-06-06T07:37:01Z</dcterms:modified>
</cp:coreProperties>
</file>