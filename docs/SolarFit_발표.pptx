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176" autoAdjust="0"/>
  </p:normalViewPr>
  <p:slideViewPr>
    <p:cSldViewPr snapToGrid="0" snapToObjects="1">
      <p:cViewPr varScale="1">
        <p:scale>
          <a:sx n="94" d="100"/>
          <a:sy n="94" d="100"/>
        </p:scale>
        <p:origin x="9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Recall@5</c:v>
                </c:pt>
              </c:strCache>
            </c:strRef>
          </c:tx>
          <c:spPr>
            <a:solidFill>
              <a:srgbClr val="2F6E7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C1C1E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Vector only</c:v>
                </c:pt>
                <c:pt idx="1">
                  <c:v>Hybrid only</c:v>
                </c:pt>
                <c:pt idx="2">
                  <c:v>Hybrid + Rewrite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47.83</c:v>
                </c:pt>
                <c:pt idx="1">
                  <c:v>65.22</c:v>
                </c:pt>
                <c:pt idx="2">
                  <c:v>73.91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89-4F6F-AD74-8B8B2C56C4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Citation Accuracy</c:v>
                </c:pt>
              </c:strCache>
            </c:strRef>
          </c:tx>
          <c:spPr>
            <a:solidFill>
              <a:srgbClr val="8A8A93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C1C1E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Vector only</c:v>
                </c:pt>
                <c:pt idx="1">
                  <c:v>Hybrid only</c:v>
                </c:pt>
                <c:pt idx="2">
                  <c:v>Hybrid + Rewrite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43.48</c:v>
                </c:pt>
                <c:pt idx="1">
                  <c:v>60.87</c:v>
                </c:pt>
                <c:pt idx="2">
                  <c:v>69.569999999999993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89-4F6F-AD74-8B8B2C56C4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E2E3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CEC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93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2E2E33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104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(0:00) 안녕하세요. 소형 태양광 입지·수익 진단 서비스 'SolarFit' 발표를 시작하겠습니다.
- 한 문장 소개: "지번 한 줄만 넣으면, 그 땅에 태양광이 되는지·돈이 되는지를 공공데이터와 AI로 바로 진단해 주는 서비스"입니다.
- 오늘은 약 10분 동안 만든 계기와 목적, 시스템 구조, 그리고 가장 중요한 '성능 평가 결과'까지 보여드리고 마지막에 짧게 시연하겠습니다. 질문은 발표 후에 받겠습니다.
- 분야가 생소할 수 있어 핵심 용어는 앞에서 가볍게 짚고 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(0:40) 발표는 여섯 단계로 진행합니다.
- 먼저 생소한 용어를 가볍게 정리하고, 왜 이걸 만들었는지(계기·목적)를 말씀드립니다.
- 그다음 시스템 구조와 사용 모델·API를 간단히 보고, RAG의 차별점을 설명합니다.
- 그리고 오늘의 핵심인 '성능 평가'를 객관적인 수치로 보여드리고, 수익성·신뢰성·시연으로 마무리합니다.
- 한 마디로: "어떻게 만들었나"보다 "정말 잘 작동하는가"를 데이터로 증명하는 데 무게를 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(1:10) 분야가 생소하니 용어 여섯 개만 짚고 가겠습니다. (빠르게, 30~40초)
- 소형 태양광 99kW: 개인도 할 수 있는 작은 발전 사업입니다.
- SMP·REC: 전기를 파는 두 가지 수익원이라고만 기억하시면 됩니다.
- 이격거리/용도지역: '허가가 되느냐'를 가르는 규제. 계통 여유: '만든 전기를 보낼 수 있느냐'.
- 조례: 시·군마다 기준이 다 다른 게 핵심 고통 포인트.
- RAG: AI가 관련 조례를 먼저 찾아 읽고 근거를 대며 답하는 방식 — 뒤에서 다시 나옵니다.
- (넘어가며) 이 용어들이 왜 중요한지는 바로 다음 장에서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(1:50) 왜 만들었는지가 이 프로젝트의 출발점입니다.
- 태양광 사업의 성패는 거의 '부지 선정'에서 갈립니다. 토지가 싸 보여도 규제 하나에 막히면 수천만 원 초기 투자가 허가 단계에서 통째로 날아갑니다.
- 그런데 필요한 정보 — 규제, 일사량, 계통 여유, 지가 — 가 전부 다른 기관에 흩어져 있고, 특히 조례의 핵심 이격 수치는 '별표'라는 첨부파일에 숨어 있어서 비전문가는 찾기조차 어렵습니다.
- 그래서 목적을 명확히 했습니다: "지번 한 줄로, 규제·계통·지원·수익 네 가지를 몇 초 만에 종합해 주자." 완성형 법률 상담이 아니라 '입지 판단 보조'에 집중했습니다 — 이 포지셔닝이 뒤의 평가 기준과 직결됩니다.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(2:40) 사용자는 검색창 하나만 봅니다. 입력 한 줄이 자동으로 세 갈래로 나뉩니다.
- 지번을 넣으면 → 그 부지 하나를 통째로 진단합니다 (규제·계통·지원·수익).
- "당진" 같은 시군구명이 들어가면 → 그 지역 단위로 규제·계통·지원을 봅니다.
- "추천해줘" 같은 일반 질문이면 → 충남 15개 시군구를 점수로 줄 세워 추천합니다.
- 즉, 사용자는 묻는 방식만 자연스럽게 바꾸면 되고, 분기 판단은 시스템이 알아서 합니다. 뒤 시연에서 이 세 가지를 다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(3:20) 구조는 단순한 3계층입니다.
- ① 위쪽: 무료 공공데이터 API 7종에서 일사량·계통·조례·토지이용·단가를 모읍니다.
- ② 가운데: 두 개의 로컬 저장소로 나눕니다. 숫자·메타는 SQLite, '말로 된 조례'는 의미 검색을 위해 벡터로 바꿔 ChromaDB에 넣습니다(4,251개 조각). 역할 분담입니다 — SQL은 정확 일치, 벡터는 의미 일치.
- ③ 웹앱은 로컬 PC에서 Streamlit으로 돌고, RAG 모듈과 진단·수익 계산이 붙어 있습니다.
- ④ 임베딩과 답변 생성만 OpenAI API를 씁니다.
- 강조점: GPU 서버 없이 '내 PC + 인터넷'만으로 동작합니다. 처음엔 캐글·Ollama·터널까지 썼지만, 전부 걷어내고 API 하나로 단순화했습니다.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(4:10) 모델과 비용은 짧게 보겠습니다.
- 임베딩은 text-embedding-3-small, 답변은 gpt-4o-mini. 둘 다 OpenAI입니다.
- 벡터 DB는 ChromaDB, 메타는 SQLite — 둘 다 로컬·무료입니다.
- 핵심 포인트는 오른쪽: 질문 한 번에 약 0.9원, 1주 데모를 다 돌려도 누적 200원 수준입니다. 비용 부담 없이 운영 가능한 구조라는 점을 강조하고 싶습니다.
- 아래는 데이터 원천인 공공 API들입니다. 전부 무료 공공데이터고, AI가 숫자를 지어내는 게 아니라 이 데이터로 계산한다는 점이 신뢰성의 토대입니다. (다음 장으로)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(4:50) RAG는 단순히 '검색해서 답하기'가 아닙니다. 세 가지 차별점이 있습니다.
- ① 쿼터 검색: 그냥 거리순으로 뽑으면 광역(도) 조례가 상위를 다 차지해서, 정작 사용자가 궁금한 '그 시·군 자체 조례'가 빠집니다. 그래서 시군구 60% + 광역 40% 비율로 강제 분배했습니다.
- ② 하이브리드 검색: 벡터(의미)만으로는 '이격거리' 같은 정확한 법령 키워드를 놓칩니다. 실제로 정답 조항이 벡터 top-20에도 안 떴어요. 그래서 키워드 검색을 더해 RRF로 합쳤더니 회수가 됐습니다.
- ③ 별표 추출: 가장 자랑하고 싶은 부분입니다. 당진·보령 같은 곳은 조례 본문엔 이격 규제가 없고 '별표'라는 HWP 첨부에만 있었습니다. 거기까지 추출했습니다. 조문만 봤으면 규제를 통째로 놓쳤을 케이스죠.
- 이 세 가지가 다음 장의 성능 향상으로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(5:35) 여기가 오늘 발표의 핵심입니다. 평가를 '객관적인 수치'로 했습니다.
- 먼저 평가 철학: "그럴듯한 답"이 아니라 "정답 조항을 실제로 짚었는가"를 봅니다. 그래서 핵심 지표 두 개 — Recall@5(정답 조항을 상위 5개에 넣었나)와 Citation Accuracy(댄 출처가 진짜 근거였나)를 잡았습니다.
- 평가셋은 실제 사용자 질문에 가까운 골드셋 40건으로 만들었습니다. 이격거리, 보조금, 짧은 후속 질문 같은 까다로운 케이스를 일부러 넣었습니다.
- 오른쪽이 초기 진단 결과입니다. 흥미로운 발견: 조례 '이름'은 0.79로 잘 찾는데, 정확한 '조문'은 0.57로 떨어집니다. 즉 "맞는 법은 찾았는데 그 안에서 정확한 조항을 못 집는다"는 명확한 병목이었습니다. 이걸 다음 장에서 어떻게 끌어올렸는지 보여드립니다.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(6:25) 그래서 결과가 어떻게 됐느냐 — 이 장이 가장 중요합니다. 동일한 평가셋으로 검색 모드를 세 가지로 나눠 측정했습니다.
- Vector only(벡터만) → Hybrid(하이브리드) → Hybrid + Rewrite(질문 재작성까지) 순으로 두 지표가 계단처럼 올라갑니다.
- 수치로 말씀드리면: Recall@5는 0.48 → 0.74, Citation Accuracy는 0.43 → 0.70으로 올랐습니다. 둘 다 50~60% 상대 개선입니다.
- 그러면서 응답 속도는 2.0초에서 2.3초로, 시연에 충분한 수준을 유지했습니다.
- 해석은 명확합니다: 하이브리드가 벡터가 놓친 정답 조항을 키워드로 회수했고, 재작성이 짧은 후속 질문의 의도를 보강했습니다. 앞 장의 차별점이 숫자로 증명된 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(7:10) 평가는 평균 점수만 보는 게 아니라, 실패한 문항을 다시 열어 봤습니다.
- 반복되는 실패가 세 가지였습니다: ① 조례명은 맞는데 조문을 틀림 ② 본문과 별표 수치를 연결 못 함 ③ 태양광 질문이 엉뚱하게 주차장 조례로 새는 도메인 오검색. 각각의 개선 방향(리랭커, 별표 연결, 근거 검증기)까지 정리했습니다 — 다음 버전 로드맵입니다.
- 신뢰성 설계 두 가지를 강조하고 싶습니다.
  · 환각 방지: AI는 '말로 된 조례'를 읽고 요약·판정만 하고, 숫자는 전부 공공데이터 계산값입니다. AI가 수치를 지어내지 못하게 설계했습니다.
  · 한계 정직 표기: GIS가 있어야 알 수 있는 실거리·진입로는 '실측 필요'로 솔직하게 표시합니다. 과장하지 않는 게 이 서비스의 원칙입니다.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(7:55) 수익성은 흐름만 보여드립니다.
- 발전량은 단순합니다: 그 지역 연 일사량을 3.6으로 나눠 표준 발전시간을 구하고, 시스템 효율(PR 0.85)을 곱한 뒤, 설비 용량 99kW를 곱하면 연간 약 15.6만 kWh가 나옵니다. "햇빛 → 발전시간 → 용량 곱 → 1년 발전량"입니다.
- 수익은 두 갈래: 전기 도매가 SMP 수익 + 신재생 인증서 REC 수익. 여기에 연수익으로 손익분기·20년 총수익·예금 대비까지 보여줍니다.
- 중요한 건 아래: 투자비·이용률 같은 값은 '가정치'라고 화면에서도 정직하게 표시합니다. 운영비·감가는 아직 미반영한 단순 매출 기준이라는 것도 숨기지 않습니다. 이 가정들은 팀 협의로 확정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(8:40) 이제 짧게 시연하겠습니다. (인터넷 끊김 대비 백업 영상 준비)
- ① 지번 하나를 넣어 그 부지의 규제·계통·지원·종합판정을 한 화면에서 보여드립니다.
- ② 같은 엔진이 부지에 따라 다르게 판정하는 대조 사례 — 계획관리지역(가능) vs 농림지역(제약).
- ③ "당진에 변전소 여유 있어?" 지역 진단, ④ "충남에서 좋은 곳 추천" 추천 랭킹까지 한 번씩 보여드리면 끝입니다.
(시연 후, ~9:30) 정리하겠습니다.
- SolarFit은 처음엔 조례 상담 챗봇으로 출발했지만, 평가를 통해 '입지 판단 보조 MVP'로 방향을 다시 잡았습니다.
- 핵심 성과: 쿼터·하이브리드 검색으로 Recall을 0.48에서 0.74로 끌어올렸고, 숫자는 데이터로만 계산해 환각을 막았으며, GPU 없이 질문당 0.9원으로 운영됩니다.
- 들어주셔서 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태양광(99kW) 입지·수익 진단 서비스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지번 한 줄 입력 → 흩어진 공공데이터 7종을 모아 자동 종합 · 충남 자치법규 RAG 기반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5029200"/>
            <a:ext cx="502920" cy="502920"/>
          </a:xfrm>
          <a:prstGeom prst="ellipse">
            <a:avLst/>
          </a:prstGeom>
          <a:solidFill>
            <a:srgbClr val="2E2E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188" y="5164988"/>
            <a:ext cx="231343" cy="231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5029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+ RAG(AI)로 부지 사전 </a:t>
            </a:r>
            <a:r>
              <a:rPr lang="en-US" sz="15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검토를 </a:t>
            </a:r>
            <a:r>
              <a:rPr lang="ko-KR" altLang="en-US" sz="15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한번에 진단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2144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700" b="1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</a:t>
            </a: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소형 태양광 입지·수익 진단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4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1691640" y="1892808"/>
            <a:ext cx="475488" cy="475488"/>
          </a:xfrm>
          <a:prstGeom prst="ellipse">
            <a:avLst/>
          </a:prstGeom>
          <a:solidFill>
            <a:srgbClr val="F2F2F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022" y="2021190"/>
            <a:ext cx="218724" cy="2187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331720" y="18928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태양광 발전소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331720" y="23500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태양광 · SMP/REC · 조례 · RAG 용어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53912" y="160020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382512" y="17830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4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4000" dirty="0"/>
          </a:p>
        </p:txBody>
      </p:sp>
      <p:sp>
        <p:nvSpPr>
          <p:cNvPr id="15" name="Shape 12"/>
          <p:cNvSpPr/>
          <p:nvPr/>
        </p:nvSpPr>
        <p:spPr>
          <a:xfrm>
            <a:off x="7296912" y="1892808"/>
            <a:ext cx="475488" cy="475488"/>
          </a:xfrm>
          <a:prstGeom prst="ellipse">
            <a:avLst/>
          </a:prstGeom>
          <a:solidFill>
            <a:srgbClr val="F2F2F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294" y="2021190"/>
            <a:ext cx="218724" cy="2187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936992" y="18928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936992" y="23500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부지 선정이 사업의 성패를 가른다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3090672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777240" y="3273552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4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4000" dirty="0"/>
          </a:p>
        </p:txBody>
      </p:sp>
      <p:sp>
        <p:nvSpPr>
          <p:cNvPr id="21" name="Shape 17"/>
          <p:cNvSpPr/>
          <p:nvPr/>
        </p:nvSpPr>
        <p:spPr>
          <a:xfrm>
            <a:off x="1691640" y="3383280"/>
            <a:ext cx="475488" cy="475488"/>
          </a:xfrm>
          <a:prstGeom prst="ellipse">
            <a:avLst/>
          </a:prstGeom>
          <a:solidFill>
            <a:srgbClr val="F2F2F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0022" y="3511662"/>
            <a:ext cx="218724" cy="2187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33172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구조 · 모델 · API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2331720" y="3840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7종 → DB → RAG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153912" y="3090672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/>
          <p:nvPr/>
        </p:nvSpPr>
        <p:spPr>
          <a:xfrm>
            <a:off x="6382512" y="3273552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4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4000" dirty="0"/>
          </a:p>
        </p:txBody>
      </p:sp>
      <p:sp>
        <p:nvSpPr>
          <p:cNvPr id="27" name="Shape 22"/>
          <p:cNvSpPr/>
          <p:nvPr/>
        </p:nvSpPr>
        <p:spPr>
          <a:xfrm>
            <a:off x="7296912" y="3383280"/>
            <a:ext cx="475488" cy="475488"/>
          </a:xfrm>
          <a:prstGeom prst="ellipse">
            <a:avLst/>
          </a:prstGeom>
          <a:solidFill>
            <a:srgbClr val="F2F2F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5294" y="3511662"/>
            <a:ext cx="218724" cy="2187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936992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핵심 차별점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936992" y="3840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쿼터 검색 · 하이브리드 · 별표 추출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48640" y="4581144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/>
          <p:nvPr/>
        </p:nvSpPr>
        <p:spPr>
          <a:xfrm>
            <a:off x="777240" y="4764024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4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4000" dirty="0"/>
          </a:p>
        </p:txBody>
      </p:sp>
      <p:sp>
        <p:nvSpPr>
          <p:cNvPr id="33" name="Shape 27"/>
          <p:cNvSpPr/>
          <p:nvPr/>
        </p:nvSpPr>
        <p:spPr>
          <a:xfrm>
            <a:off x="1691640" y="4873752"/>
            <a:ext cx="475488" cy="475488"/>
          </a:xfrm>
          <a:prstGeom prst="ellipse">
            <a:avLst/>
          </a:prstGeom>
          <a:solidFill>
            <a:srgbClr val="F2F2F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0022" y="5002134"/>
            <a:ext cx="218724" cy="21872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2331720" y="48737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평가 (객관 데이터)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2331720" y="53309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메트릭 정의 → 개선 전후 정량 비교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6153912" y="4581144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1"/>
          <p:cNvSpPr/>
          <p:nvPr/>
        </p:nvSpPr>
        <p:spPr>
          <a:xfrm>
            <a:off x="6382512" y="4764024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4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4000" dirty="0"/>
          </a:p>
        </p:txBody>
      </p:sp>
      <p:sp>
        <p:nvSpPr>
          <p:cNvPr id="39" name="Shape 32"/>
          <p:cNvSpPr/>
          <p:nvPr/>
        </p:nvSpPr>
        <p:spPr>
          <a:xfrm>
            <a:off x="7296912" y="4873752"/>
            <a:ext cx="475488" cy="475488"/>
          </a:xfrm>
          <a:prstGeom prst="ellipse">
            <a:avLst/>
          </a:prstGeom>
          <a:solidFill>
            <a:srgbClr val="F2F2F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5294" y="5002134"/>
            <a:ext cx="218724" cy="21872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936992" y="48737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수익성 · 신뢰성 · 시연</a:t>
            </a:r>
            <a:endParaRPr lang="en-US" sz="1600" dirty="0"/>
          </a:p>
        </p:txBody>
      </p:sp>
      <p:sp>
        <p:nvSpPr>
          <p:cNvPr id="42" name="Text 34"/>
          <p:cNvSpPr/>
          <p:nvPr/>
        </p:nvSpPr>
        <p:spPr>
          <a:xfrm>
            <a:off x="7936992" y="53309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계산 · 한계 정직 표기 · 데모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DOMAIN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2144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700" b="1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태양광 발전소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</a:t>
            </a: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소형 태양광 입지·수익 진단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04672" y="1828800"/>
            <a:ext cx="475488" cy="475488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54" y="1957182"/>
            <a:ext cx="218724" cy="2187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79222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태양광 (99kW)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63040" y="219456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개인·농가도 할 수 있는 소규모 발전. 약 330평 부지, 약 30가구분 전기. 준공 후 20년 운영.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53912" y="1554480"/>
            <a:ext cx="54864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409944" y="1828800"/>
            <a:ext cx="475488" cy="475488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326" y="1957182"/>
            <a:ext cx="218724" cy="2187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68312" y="179222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SMP · REC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068312" y="219456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전기를 파는 두 가지 수익. SMP=전기 도매가, REC=신재생 인증서. 두 수입이 합쳐져 매출이 됩니다.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063240"/>
            <a:ext cx="54864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804672" y="3337560"/>
            <a:ext cx="475488" cy="475488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054" y="3465942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30098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이격거리 · 용도지역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463040" y="370332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도로·주거에서 얼마나 떨어져야 하나(이격), 그 땅에 발전시설이 되는 땅인가(용도지역). 허가의 핵심.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153912" y="3063240"/>
            <a:ext cx="54864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6409944" y="3337560"/>
            <a:ext cx="475488" cy="475488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8326" y="3465942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68312" y="330098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계통(연계) 여유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068312" y="370332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전기를 보낼 전력망에 여유가 있나. 변전소·배전선로 빈 용량(kW). 없으면 못 팔아요.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572000"/>
            <a:ext cx="54864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804672" y="4846320"/>
            <a:ext cx="475488" cy="475488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054" y="4974702"/>
            <a:ext cx="218724" cy="2187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63040" y="4809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자치법규(조례)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1463040" y="52120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시·군마다 다른 규제. 같은 충남이라도 시군구별로 기준이 제각각이라 일일이 찾아야 합니다.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6153912" y="4572000"/>
            <a:ext cx="54864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409944" y="4846320"/>
            <a:ext cx="475488" cy="475488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8326" y="4974702"/>
            <a:ext cx="218724" cy="21872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068312" y="4809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(검색증강생성)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7068312" y="52120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'관련 조례를 먼저 찾아 읽고' 답하는 방식. 없는 내용을 지어내지 않고 근거를 댑니다.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2144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 </a:t>
            </a:r>
            <a:r>
              <a:rPr lang="en-US" sz="27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돈 되는 땅은 따로 있다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</a:t>
            </a: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소형 태양광 입지·수익 진단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532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부지 하나 잘못 고르면, 수천만 원이 허가 단계에서 사라진다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규제·일사량·계통·지가 정보가 기관마다 흩어져 있다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조례는 시·군마다 다르고, 핵심 수치는 '별표(첨부파일)'에 숨어 있다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검토에 수일이 걸리고, 비전문가는 어디서 막힐지 모른다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5074920"/>
            <a:ext cx="4937760" cy="777240"/>
          </a:xfrm>
          <a:prstGeom prst="rect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50749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흩어진 공공데이터를 '한 부지 기준'으로 모아 자동 종합할 수 없을까?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554480"/>
            <a:ext cx="5349240" cy="4480560"/>
          </a:xfrm>
          <a:prstGeom prst="rect">
            <a:avLst/>
          </a:prstGeom>
          <a:solidFill>
            <a:srgbClr val="1C1C1E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583680" y="1828800"/>
            <a:ext cx="502920" cy="502920"/>
          </a:xfrm>
          <a:prstGeom prst="ellipse">
            <a:avLst/>
          </a:prstGeom>
          <a:solidFill>
            <a:srgbClr val="2E2E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68" y="1964588"/>
            <a:ext cx="231343" cy="23134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269480" y="1828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83680" y="24688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지번 한 줄로 '되는 땅인지·돈이 되는지'</a:t>
            </a:r>
            <a:r>
              <a:rPr lang="en-US" sz="2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ko-KR" altLang="en-US" sz="21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한번에 진단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583680" y="3429000"/>
            <a:ext cx="914400" cy="502920"/>
          </a:xfrm>
          <a:prstGeom prst="rect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583680" y="3429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35240" y="3429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이격·용도지역·농지를 한 번에 점검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583680" y="4050792"/>
            <a:ext cx="914400" cy="502920"/>
          </a:xfrm>
          <a:prstGeom prst="rect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583680" y="40507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635240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지역 연계 가능 용량 즉시 확인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583680" y="4672584"/>
            <a:ext cx="914400" cy="502920"/>
          </a:xfrm>
          <a:prstGeom prst="rect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6583680" y="467258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635240" y="467258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 보조금·융자를 조례 근거로 안내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583680" y="5294376"/>
            <a:ext cx="914400" cy="502920"/>
          </a:xfrm>
          <a:prstGeom prst="rect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6583680" y="529437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635240" y="52943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발전량·SMP/REC·투자지표 자동 계산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2144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입력 → 세 화면으로 자동 분기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</a:t>
            </a: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소형 태양광 입지·수익 진단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23360" y="1600200"/>
            <a:ext cx="4114800" cy="868680"/>
          </a:xfrm>
          <a:prstGeom prst="rect">
            <a:avLst/>
          </a:prstGeom>
          <a:solidFill>
            <a:srgbClr val="1C1C1E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297680" y="1801368"/>
            <a:ext cx="457200" cy="457200"/>
          </a:xfrm>
          <a:prstGeom prst="ellipse">
            <a:avLst/>
          </a:prstGeom>
          <a:solidFill>
            <a:srgbClr val="2E2E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4" y="1924812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9204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한 줄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지번 · 시군구명 · 일반 질문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46020" y="2468880"/>
            <a:ext cx="0" cy="594360"/>
          </a:xfrm>
          <a:prstGeom prst="line">
            <a:avLst/>
          </a:prstGeom>
          <a:noFill/>
          <a:ln w="1905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85800" y="306324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85800" y="3063240"/>
            <a:ext cx="3520440" cy="73152"/>
          </a:xfrm>
          <a:prstGeom prst="rect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78408" y="3355848"/>
            <a:ext cx="502920" cy="50292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196" y="3491636"/>
            <a:ext cx="231343" cy="23134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337413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지번 입력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78408" y="3977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부지 단일 진단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978408" y="4480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땅, 태양광 돼? 뭐가 걸려?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978408" y="5120640"/>
            <a:ext cx="2935224" cy="457200"/>
          </a:xfrm>
          <a:prstGeom prst="rect">
            <a:avLst/>
          </a:prstGeom>
          <a:solidFill>
            <a:srgbClr val="F2F2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1097280" y="5120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충남 논산시 충곡리 200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213348" y="2468880"/>
            <a:ext cx="0" cy="594360"/>
          </a:xfrm>
          <a:prstGeom prst="line">
            <a:avLst/>
          </a:prstGeom>
          <a:noFill/>
          <a:ln w="1905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4453128" y="306324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4453128" y="3063240"/>
            <a:ext cx="3520440" cy="73152"/>
          </a:xfrm>
          <a:prstGeom prst="rect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4745736" y="3355848"/>
            <a:ext cx="502920" cy="50292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524" y="3491636"/>
            <a:ext cx="231343" cy="23134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413248" y="337413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시군구명 포함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745736" y="3977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단위 진단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4745736" y="4480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지역 규제·계통·지원은?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4745736" y="5120640"/>
            <a:ext cx="2935224" cy="457200"/>
          </a:xfrm>
          <a:prstGeom prst="rect">
            <a:avLst/>
          </a:prstGeom>
          <a:solidFill>
            <a:srgbClr val="F2F2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/>
          <p:nvPr/>
        </p:nvSpPr>
        <p:spPr>
          <a:xfrm>
            <a:off x="4864608" y="5120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당진에 변전소 여유 있어?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9980676" y="2468880"/>
            <a:ext cx="0" cy="594360"/>
          </a:xfrm>
          <a:prstGeom prst="line">
            <a:avLst/>
          </a:prstGeom>
          <a:noFill/>
          <a:ln w="1905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8220456" y="306324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8220456" y="3063240"/>
            <a:ext cx="3520440" cy="73152"/>
          </a:xfrm>
          <a:prstGeom prst="rect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9"/>
          <p:cNvSpPr/>
          <p:nvPr/>
        </p:nvSpPr>
        <p:spPr>
          <a:xfrm>
            <a:off x="8513064" y="3355848"/>
            <a:ext cx="502920" cy="50292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8852" y="3491636"/>
            <a:ext cx="231343" cy="23134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180576" y="337413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질문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8513064" y="3977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리스트</a:t>
            </a:r>
            <a:endParaRPr lang="en-US" sz="2000" dirty="0"/>
          </a:p>
        </p:txBody>
      </p:sp>
      <p:sp>
        <p:nvSpPr>
          <p:cNvPr id="38" name="Text 32"/>
          <p:cNvSpPr/>
          <p:nvPr/>
        </p:nvSpPr>
        <p:spPr>
          <a:xfrm>
            <a:off x="8513064" y="4480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충남 어디가 제일 좋아?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8513064" y="5120640"/>
            <a:ext cx="2935224" cy="457200"/>
          </a:xfrm>
          <a:prstGeom prst="rect">
            <a:avLst/>
          </a:prstGeom>
          <a:solidFill>
            <a:srgbClr val="F2F2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/>
          <p:cNvSpPr/>
          <p:nvPr/>
        </p:nvSpPr>
        <p:spPr>
          <a:xfrm>
            <a:off x="8631936" y="5120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충남에서 좋은 곳 추천해줘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2144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구조 — 공공데이터에서 답변까지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</a:t>
            </a: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소형 태양광 입지·수익 진단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09167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공공데이터 (무료 API · 7종)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057400"/>
            <a:ext cx="1481328" cy="566928"/>
          </a:xfrm>
          <a:prstGeom prst="rect">
            <a:avLst/>
          </a:prstGeom>
          <a:solidFill>
            <a:srgbClr val="F2F2F4"/>
          </a:solidFill>
          <a:ln w="1270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KMAPP 일사량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27148" y="2057400"/>
            <a:ext cx="1481328" cy="566928"/>
          </a:xfrm>
          <a:prstGeom prst="rect">
            <a:avLst/>
          </a:prstGeom>
          <a:solidFill>
            <a:srgbClr val="F2F2F4"/>
          </a:solidFill>
          <a:ln w="1270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372868" y="205740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KEPCO 계통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77056" y="2057400"/>
            <a:ext cx="1481328" cy="566928"/>
          </a:xfrm>
          <a:prstGeom prst="rect">
            <a:avLst/>
          </a:prstGeom>
          <a:solidFill>
            <a:srgbClr val="F2F2F4"/>
          </a:solidFill>
          <a:ln w="1270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922776" y="205740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국가법령정보 조례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26964" y="2057400"/>
            <a:ext cx="1481328" cy="566928"/>
          </a:xfrm>
          <a:prstGeom prst="rect">
            <a:avLst/>
          </a:prstGeom>
          <a:solidFill>
            <a:srgbClr val="F2F2F4"/>
          </a:solidFill>
          <a:ln w="1270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72684" y="205740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조례 별표(HWP)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76872" y="2057400"/>
            <a:ext cx="1481328" cy="566928"/>
          </a:xfrm>
          <a:prstGeom prst="rect">
            <a:avLst/>
          </a:prstGeom>
          <a:solidFill>
            <a:srgbClr val="F2F2F4"/>
          </a:solidFill>
          <a:ln w="1270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022592" y="205740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VWorld 토지이용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26780" y="2057400"/>
            <a:ext cx="1481328" cy="566928"/>
          </a:xfrm>
          <a:prstGeom prst="rect">
            <a:avLst/>
          </a:prstGeom>
          <a:solidFill>
            <a:srgbClr val="F2F2F4"/>
          </a:solidFill>
          <a:ln w="1270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572500" y="205740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KPX SMP/REC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076688" y="2057400"/>
            <a:ext cx="1481328" cy="566928"/>
          </a:xfrm>
          <a:prstGeom prst="rect">
            <a:avLst/>
          </a:prstGeom>
          <a:solidFill>
            <a:srgbClr val="F2F2F4"/>
          </a:solidFill>
          <a:ln w="1270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122408" y="205740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행정·법정동코드</a:t>
            </a:r>
            <a:endParaRPr lang="en-US" sz="10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929884" y="2852928"/>
            <a:ext cx="329184" cy="329184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48640" y="3246120"/>
            <a:ext cx="5394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77724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로컬 이중 저장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748" y="3884828"/>
            <a:ext cx="231343" cy="231343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46304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지역·일사량·조례 메타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3474720" y="3749040"/>
            <a:ext cx="502920" cy="50292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0508" y="3884828"/>
            <a:ext cx="231343" cy="23134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11480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조례 4,251 청크 (벡터)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245352" y="3246120"/>
            <a:ext cx="5394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/>
          <p:nvPr/>
        </p:nvSpPr>
        <p:spPr>
          <a:xfrm>
            <a:off x="6473952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웹앱 (로컬 PC · Streamlit)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519672" y="3749040"/>
            <a:ext cx="502920" cy="50292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5460" y="3884828"/>
            <a:ext cx="231343" cy="23134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159752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모듈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→ 근거 → 답변 생성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9235440" y="3749040"/>
            <a:ext cx="502920" cy="50292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1228" y="3884828"/>
            <a:ext cx="231343" cy="231343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875520" y="37033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진단·수익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계산·추천 랭킹</a:t>
            </a:r>
            <a:endParaRPr lang="en-US" sz="13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929884" y="4636008"/>
            <a:ext cx="329184" cy="329184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548640" y="5029200"/>
            <a:ext cx="11091672" cy="1005840"/>
          </a:xfrm>
          <a:prstGeom prst="rect">
            <a:avLst/>
          </a:prstGeom>
          <a:solidFill>
            <a:srgbClr val="1C1C1E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4"/>
          <p:cNvSpPr/>
          <p:nvPr/>
        </p:nvSpPr>
        <p:spPr>
          <a:xfrm>
            <a:off x="822960" y="5230368"/>
            <a:ext cx="548640" cy="548640"/>
          </a:xfrm>
          <a:prstGeom prst="ellipse">
            <a:avLst/>
          </a:prstGeom>
          <a:solidFill>
            <a:srgbClr val="2E2E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093" y="5378501"/>
            <a:ext cx="252374" cy="25237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508760" y="5120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OpenAI API</a:t>
            </a:r>
            <a:endParaRPr lang="en-US" sz="1400" dirty="0"/>
          </a:p>
        </p:txBody>
      </p:sp>
      <p:sp>
        <p:nvSpPr>
          <p:cNvPr id="45" name="Text 36"/>
          <p:cNvSpPr/>
          <p:nvPr/>
        </p:nvSpPr>
        <p:spPr>
          <a:xfrm>
            <a:off x="3657600" y="5120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text-embedding-3-small</a:t>
            </a:r>
            <a:r>
              <a:rPr lang="en-US" sz="1300" dirty="0">
                <a:solidFill>
                  <a:srgbClr val="B9B9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 의미 검색 임베딩 (1536차원)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gpt-4o-mini</a:t>
            </a:r>
            <a:r>
              <a:rPr lang="en-US" sz="1300" dirty="0">
                <a:solidFill>
                  <a:srgbClr val="B9B9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 답변·종합 판정 (스트리밍)</a:t>
            </a:r>
            <a:endParaRPr lang="en-US" sz="1300" dirty="0"/>
          </a:p>
        </p:txBody>
      </p:sp>
      <p:sp>
        <p:nvSpPr>
          <p:cNvPr id="46" name="Text 3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 &amp; COST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2144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모델 · API · 비용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</a:t>
            </a: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소형 태양광 입지·수익 진단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77240" y="1682496"/>
            <a:ext cx="457200" cy="45720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805940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572768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834640" y="1572768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text-embedding-3-small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1536차원 · 한국어 품질 양호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322576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77240" y="2432304"/>
            <a:ext cx="457200" cy="45720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555748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232257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834640" y="2322576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gpt-4o-mini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 · 128K 컨텍스트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3072384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777240" y="3182112"/>
            <a:ext cx="457200" cy="45720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305556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072384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DB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2834640" y="3072384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 (HNSW)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 유사도 · 로컬 무료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3822192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" y="4055364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82219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DB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2834640" y="3822192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지역·일사량·조례 메타 · 로컬 무료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548640" y="4617720"/>
            <a:ext cx="11064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/>
          <p:nvPr/>
        </p:nvSpPr>
        <p:spPr>
          <a:xfrm>
            <a:off x="77724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API · 데이터 원천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777240" y="5166360"/>
            <a:ext cx="1719072" cy="685800"/>
          </a:xfrm>
          <a:prstGeom prst="rect">
            <a:avLst/>
          </a:prstGeom>
          <a:solidFill>
            <a:srgbClr val="F2F2F4"/>
          </a:solidFill>
          <a:ln w="1270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/>
          <p:nvPr/>
        </p:nvSpPr>
        <p:spPr>
          <a:xfrm>
            <a:off x="868680" y="51663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KMAPP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일사량(5년·경사면)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2569464" y="5166360"/>
            <a:ext cx="1719072" cy="685800"/>
          </a:xfrm>
          <a:prstGeom prst="rect">
            <a:avLst/>
          </a:prstGeom>
          <a:solidFill>
            <a:srgbClr val="F2F2F4"/>
          </a:solidFill>
          <a:ln w="1270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0"/>
          <p:cNvSpPr/>
          <p:nvPr/>
        </p:nvSpPr>
        <p:spPr>
          <a:xfrm>
            <a:off x="2660904" y="51663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KEPCO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 여유용량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4361688" y="5166360"/>
            <a:ext cx="1719072" cy="685800"/>
          </a:xfrm>
          <a:prstGeom prst="rect">
            <a:avLst/>
          </a:prstGeom>
          <a:solidFill>
            <a:srgbClr val="F2F2F4"/>
          </a:solidFill>
          <a:ln w="1270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/>
          <p:cNvSpPr/>
          <p:nvPr/>
        </p:nvSpPr>
        <p:spPr>
          <a:xfrm>
            <a:off x="4453128" y="51663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국가법령정보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자치법규 본문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6153912" y="5166360"/>
            <a:ext cx="1719072" cy="685800"/>
          </a:xfrm>
          <a:prstGeom prst="rect">
            <a:avLst/>
          </a:prstGeom>
          <a:solidFill>
            <a:srgbClr val="F2F2F4"/>
          </a:solidFill>
          <a:ln w="1270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/>
          <p:cNvSpPr/>
          <p:nvPr/>
        </p:nvSpPr>
        <p:spPr>
          <a:xfrm>
            <a:off x="6245352" y="51663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VWorld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토지이용계획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7946136" y="5166360"/>
            <a:ext cx="1719072" cy="685800"/>
          </a:xfrm>
          <a:prstGeom prst="rect">
            <a:avLst/>
          </a:prstGeom>
          <a:solidFill>
            <a:srgbClr val="F2F2F4"/>
          </a:solidFill>
          <a:ln w="1270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6"/>
          <p:cNvSpPr/>
          <p:nvPr/>
        </p:nvSpPr>
        <p:spPr>
          <a:xfrm>
            <a:off x="8037576" y="51663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KPX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SMP·REC 단가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9738360" y="5166360"/>
            <a:ext cx="1719072" cy="685800"/>
          </a:xfrm>
          <a:prstGeom prst="rect">
            <a:avLst/>
          </a:prstGeom>
          <a:solidFill>
            <a:srgbClr val="F2F2F4"/>
          </a:solidFill>
          <a:ln w="1270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8"/>
          <p:cNvSpPr/>
          <p:nvPr/>
        </p:nvSpPr>
        <p:spPr>
          <a:xfrm>
            <a:off x="9829800" y="51663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code.go.kr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행정·법정동코드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2144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핵심 차별점 — 단순 검색과 무엇이 다른가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</a:t>
            </a: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소형 태양광 입지·수익 진단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593592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593592" cy="82296"/>
          </a:xfrm>
          <a:prstGeom prst="rect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2010308"/>
            <a:ext cx="231343" cy="23134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251460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시군구 60% + 광역 40% 쿼터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22960" y="333756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방식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58444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광역 조례가 top-5를 독식 → 시군구 자체 조례 누락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4407408"/>
            <a:ext cx="3044952" cy="0"/>
          </a:xfrm>
          <a:prstGeom prst="line">
            <a:avLst/>
          </a:prstGeom>
          <a:noFill/>
          <a:ln w="1270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" y="449884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4745736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시군구·광역을 따로 검색해 쿼터로 합침 → 그 지역 자체 조례를 항상 포함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297680" y="1554480"/>
            <a:ext cx="3593592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297680" y="1554480"/>
            <a:ext cx="3593592" cy="82296"/>
          </a:xfrm>
          <a:prstGeom prst="rect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572000" y="1874520"/>
            <a:ext cx="502920" cy="50292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788" y="2010308"/>
            <a:ext cx="231343" cy="23134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72000" y="251460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검색 (벡터 + 키워드)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4572000" y="333756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방식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0" y="358444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'이격거리' 정답 조항이 벡터 top-20에도 안 뜸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572000" y="4407408"/>
            <a:ext cx="3044952" cy="0"/>
          </a:xfrm>
          <a:prstGeom prst="line">
            <a:avLst/>
          </a:prstGeom>
          <a:noFill/>
          <a:ln w="1270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4572000" y="449884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72000" y="4745736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검색을 더해 RRF로 융합 → 놓친 정답 조항 회수 (조문 Recall↑)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046720" y="1554480"/>
            <a:ext cx="3593592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8046720" y="1554480"/>
            <a:ext cx="3593592" cy="82296"/>
          </a:xfrm>
          <a:prstGeom prst="rect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5"/>
          <p:cNvSpPr/>
          <p:nvPr/>
        </p:nvSpPr>
        <p:spPr>
          <a:xfrm>
            <a:off x="8321040" y="1874520"/>
            <a:ext cx="502920" cy="50292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828" y="2010308"/>
            <a:ext cx="231343" cy="23134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321040" y="251460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별표(HWP) 끝까지 추출</a:t>
            </a:r>
            <a:endParaRPr lang="en-US" sz="1550" dirty="0"/>
          </a:p>
        </p:txBody>
      </p:sp>
      <p:sp>
        <p:nvSpPr>
          <p:cNvPr id="32" name="Text 27"/>
          <p:cNvSpPr/>
          <p:nvPr/>
        </p:nvSpPr>
        <p:spPr>
          <a:xfrm>
            <a:off x="8321040" y="333756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방식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8321040" y="358444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당진·보령·홍성·태안은 조문엔 없고 별표에만 규제가 있음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8321040" y="4407408"/>
            <a:ext cx="3044952" cy="0"/>
          </a:xfrm>
          <a:prstGeom prst="line">
            <a:avLst/>
          </a:prstGeom>
          <a:noFill/>
          <a:ln w="12700">
            <a:solidFill>
              <a:srgbClr val="DEDE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/>
          <p:nvPr/>
        </p:nvSpPr>
        <p:spPr>
          <a:xfrm>
            <a:off x="8321040" y="449884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8321040" y="4745736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HWP까지 추출해 이격 수치 확보 → 조문만 보면 놓치는 규제를 잡음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EVALUATION 1/2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2144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평가 ① — 무엇을, 어떻게 측정했나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</a:t>
            </a: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소형 태양광 입지·수익 진단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설계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0848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'좋아 보이는 답'이 아니라 '정답 조항을 짚었는가'를 본다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834640"/>
            <a:ext cx="4937760" cy="777240"/>
          </a:xfrm>
          <a:prstGeom prst="rect">
            <a:avLst/>
          </a:prstGeom>
          <a:solidFill>
            <a:srgbClr val="F2F2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골드셋 40건</a:t>
            </a: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실제 사용자 질문 시나리오로 구성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이격거리 · 보조금 · 후속 질문 · 조례 밖 절차 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069080"/>
            <a:ext cx="4937760" cy="841248"/>
          </a:xfrm>
          <a:prstGeom prst="rect">
            <a:avLst/>
          </a:prstGeom>
          <a:solidFill>
            <a:srgbClr val="FFFFFF"/>
          </a:solidFill>
          <a:ln w="16510">
            <a:solidFill>
              <a:srgbClr val="2F6E7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1788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Recall@5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4897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조항을 상위 5개 안에 검색했는가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5001768"/>
            <a:ext cx="4937760" cy="841248"/>
          </a:xfrm>
          <a:prstGeom prst="rect">
            <a:avLst/>
          </a:prstGeom>
          <a:solidFill>
            <a:srgbClr val="FFFFFF"/>
          </a:solidFill>
          <a:ln w="16510">
            <a:solidFill>
              <a:srgbClr val="2F6E7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51114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Citation Accuracy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5422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답변이 댄 출처가 실제 근거(정답)였는가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1554480"/>
            <a:ext cx="5394960" cy="4480560"/>
          </a:xfrm>
          <a:prstGeom prst="rect">
            <a:avLst/>
          </a:prstGeom>
          <a:solidFill>
            <a:srgbClr val="1C1C1E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922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진단 — 병목 발견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21214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조례는 찾는데, 정확한 '조문'을 못 짚는다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92240" y="3017520"/>
            <a:ext cx="4846320" cy="548640"/>
          </a:xfrm>
          <a:prstGeom prst="rect">
            <a:avLst/>
          </a:prstGeom>
          <a:solidFill>
            <a:srgbClr val="2E2E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67512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조례명 Recall@5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0" y="3017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4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0.79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492240" y="3657600"/>
            <a:ext cx="4846320" cy="548640"/>
          </a:xfrm>
          <a:prstGeom prst="rect">
            <a:avLst/>
          </a:prstGeom>
          <a:solidFill>
            <a:srgbClr val="2E2E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675120" y="3657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Recall@5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84080" y="3657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0.57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492240" y="4297680"/>
            <a:ext cx="4846320" cy="548640"/>
          </a:xfrm>
          <a:prstGeom prst="rect">
            <a:avLst/>
          </a:prstGeom>
          <a:solidFill>
            <a:srgbClr val="2E2E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675120" y="4297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Citation Accuracy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84080" y="4297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0.57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492240" y="4937760"/>
            <a:ext cx="4846320" cy="548640"/>
          </a:xfrm>
          <a:prstGeom prst="rect">
            <a:avLst/>
          </a:prstGeom>
          <a:solidFill>
            <a:srgbClr val="2E2E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675120" y="4937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Faithfulness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84080" y="4937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92240" y="55961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B9B9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조례명은 0.79로 잘 찾지만 조문은 0.57. '조문 정확도'를 끌어올리는 게 다음 과제.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EVALUATION 2/2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2144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평가 ② — 개선 전후 정량 비교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</a:t>
            </a: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소형 태양광 입지·수익 진단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6675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7556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모드별 성능 (동일 평가셋 23건)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85800" y="2194560"/>
          <a:ext cx="63550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406640" y="1554480"/>
            <a:ext cx="4206240" cy="2148840"/>
          </a:xfrm>
          <a:prstGeom prst="rect">
            <a:avLst/>
          </a:prstGeom>
          <a:solidFill>
            <a:srgbClr val="1C1C1E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680960" y="1755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4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 only → Hybrid + Rewrite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8096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Recall@5  </a:t>
            </a: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0.48 → 0.74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80960" y="2697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Citation  </a:t>
            </a: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0.43 → 0.70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0" y="3246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9B9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≈ 2.0 → 2.3초 (데모 가능 수준 유지)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06640" y="3886200"/>
            <a:ext cx="4206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635240" y="4114800"/>
            <a:ext cx="457200" cy="45720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684" y="4238244"/>
            <a:ext cx="210312" cy="2103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22960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635240" y="46177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</a:t>
            </a:r>
            <a:r>
              <a:rPr lang="en-US" sz="120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벡터가 놓친 조항을 키워드로 회수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635240" y="5212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Rewrite</a:t>
            </a:r>
            <a:r>
              <a:rPr lang="en-US" sz="120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짧은 후속·모호한 질문의 의도를 보강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HONESTY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2144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 분석 · 신뢰성 — 한계를 숨기지 않는다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</a:t>
            </a: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소형 태양광 입지·수익 진단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유형 분석 (점수 뒤를 본다)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94560"/>
            <a:ext cx="4937760" cy="1097280"/>
          </a:xfrm>
          <a:prstGeom prst="rect">
            <a:avLst/>
          </a:prstGeom>
          <a:solidFill>
            <a:srgbClr val="F2F2F4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3225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조항 선택 실패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633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조례명은 맞지만 조문을 틀림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  </a:t>
            </a:r>
            <a:r>
              <a:rPr lang="en-US" sz="1100" dirty="0">
                <a:solidFill>
                  <a:srgbClr val="2E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조항 메타데이터 · 리랭커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410712"/>
            <a:ext cx="4937760" cy="1097280"/>
          </a:xfrm>
          <a:prstGeom prst="rect">
            <a:avLst/>
          </a:prstGeom>
          <a:solidFill>
            <a:srgbClr val="F2F2F4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35387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별표 연결 실패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8496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조항과 별표 수치를 연결 못 함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41422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  </a:t>
            </a:r>
            <a:r>
              <a:rPr lang="en-US" sz="1100" dirty="0">
                <a:solidFill>
                  <a:srgbClr val="2E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별표 청크 연결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626864"/>
            <a:ext cx="4937760" cy="1097280"/>
          </a:xfrm>
          <a:prstGeom prst="rect">
            <a:avLst/>
          </a:prstGeom>
          <a:solidFill>
            <a:srgbClr val="F2F2F4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05840" y="47548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오검색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50657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태양광 질문이 주차장 조례로 이동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05840" y="53583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  </a:t>
            </a:r>
            <a:r>
              <a:rPr lang="en-US" sz="1100" dirty="0">
                <a:solidFill>
                  <a:srgbClr val="2E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필터 · 근거 검증기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394960" cy="2148840"/>
          </a:xfrm>
          <a:prstGeom prst="rect">
            <a:avLst/>
          </a:prstGeom>
          <a:solidFill>
            <a:srgbClr val="1C1C1E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492240" y="1783080"/>
            <a:ext cx="457200" cy="457200"/>
          </a:xfrm>
          <a:prstGeom prst="ellipse">
            <a:avLst/>
          </a:prstGeom>
          <a:solidFill>
            <a:srgbClr val="2E2E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1906524"/>
            <a:ext cx="210312" cy="21031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08660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방지 설계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92240" y="2331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'말로 된 조례'를 읽고 요약·판정만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6D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숫자(일사량·계통·수익)는 공공데이터 계산값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217920" y="3886200"/>
            <a:ext cx="5394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6492240" y="4114800"/>
            <a:ext cx="457200" cy="45720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4238244"/>
            <a:ext cx="210312" cy="21031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08660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한계는 정직하게 표기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537960" y="466344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이격 실거리·진입로·변전소 매칭 → GIS 필요, '실측 필요'로 표시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일사량은 시군구 단위(경사면 5년) — 부지 미시지형 미반영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범위: 충남 15개 시군구 (전국 확장 가능한 구조)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solidFill>
            <a:srgbClr val="1C1C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4754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REVENUE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2144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수익성 — 햇빛에서 수익까지, 공식으로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SolarFit</a:t>
            </a: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소형 태양광 입지·수익 진단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5420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8368" y="166420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일사량(MJ/㎡)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97280" y="2194560"/>
            <a:ext cx="1444752" cy="292608"/>
          </a:xfrm>
          <a:prstGeom prst="rect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÷ 3.6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1874520"/>
            <a:ext cx="292608" cy="2926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392424" y="1554480"/>
            <a:ext cx="25420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502152" y="166420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발전시간(h)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941064" y="2194560"/>
            <a:ext cx="1444752" cy="292608"/>
          </a:xfrm>
          <a:prstGeom prst="rect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941064" y="219456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PR 0.85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1874520"/>
            <a:ext cx="292608" cy="2926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236208" y="1554480"/>
            <a:ext cx="25420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6345936" y="166420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발전시간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784848" y="2194560"/>
            <a:ext cx="1444752" cy="292608"/>
          </a:xfrm>
          <a:prstGeom prst="rect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6784848" y="219456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99kW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874520"/>
            <a:ext cx="292608" cy="29260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079992" y="1554480"/>
            <a:ext cx="25420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9189720" y="166420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발전량(kWh)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9628632" y="2194560"/>
            <a:ext cx="1444752" cy="292608"/>
          </a:xfrm>
          <a:prstGeom prst="rect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9628632" y="219456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156,000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2880360"/>
            <a:ext cx="35935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04672" y="3127248"/>
            <a:ext cx="457200" cy="45720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3250692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7320" y="312724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SMP 수익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822960" y="365760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E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발전량 × SMP 단가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22960" y="416052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KPX 2025 연평균 112.68원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297680" y="2880360"/>
            <a:ext cx="35935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4553712" y="3127248"/>
            <a:ext cx="457200" cy="45720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156" y="3250692"/>
            <a:ext cx="210312" cy="21031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166360" y="312724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 수익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4572000" y="365760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E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(발전량/1000) × 가중치 1.2 × REC 단가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4572000" y="416052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전력거래소 KPX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8046720" y="2880360"/>
            <a:ext cx="35935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8302752" y="3127248"/>
            <a:ext cx="457200" cy="457200"/>
          </a:xfrm>
          <a:prstGeom prst="ellipse">
            <a:avLst/>
          </a:prstGeom>
          <a:solidFill>
            <a:srgbClr val="E4ED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196" y="3250692"/>
            <a:ext cx="210312" cy="21031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915400" y="312724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지표</a:t>
            </a:r>
            <a:endParaRPr lang="en-US" sz="1500" dirty="0"/>
          </a:p>
        </p:txBody>
      </p:sp>
      <p:sp>
        <p:nvSpPr>
          <p:cNvPr id="42" name="Text 34"/>
          <p:cNvSpPr/>
          <p:nvPr/>
        </p:nvSpPr>
        <p:spPr>
          <a:xfrm>
            <a:off x="8321040" y="365760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E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연수익 → 손익분기 · 20년 총수익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8321040" y="416052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예금 대비 비교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548640" y="4709160"/>
            <a:ext cx="11064240" cy="1325880"/>
          </a:xfrm>
          <a:prstGeom prst="rect">
            <a:avLst/>
          </a:prstGeom>
          <a:solidFill>
            <a:srgbClr val="1C1C1E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7"/>
          <p:cNvSpPr/>
          <p:nvPr/>
        </p:nvSpPr>
        <p:spPr>
          <a:xfrm>
            <a:off x="822960" y="4956048"/>
            <a:ext cx="457200" cy="457200"/>
          </a:xfrm>
          <a:prstGeom prst="ellipse">
            <a:avLst/>
          </a:prstGeom>
          <a:solidFill>
            <a:srgbClr val="2E2E3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" y="5079492"/>
            <a:ext cx="210312" cy="210312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41732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E4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가정치 </a:t>
            </a:r>
            <a:endParaRPr lang="en-US" sz="1250" dirty="0"/>
          </a:p>
        </p:txBody>
      </p:sp>
      <p:sp>
        <p:nvSpPr>
          <p:cNvPr id="48" name="Text 39"/>
          <p:cNvSpPr/>
          <p:nvPr/>
        </p:nvSpPr>
        <p:spPr>
          <a:xfrm>
            <a:off x="868680" y="53492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D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99kW · 이용률 16% · PR 0.85    투자비 2.2억(kW당 220만원)    운영비·감가 미반영(단순 매출)</a:t>
            </a:r>
            <a:endParaRPr lang="en-US" sz="1250" dirty="0"/>
          </a:p>
        </p:txBody>
      </p:sp>
      <p:sp>
        <p:nvSpPr>
          <p:cNvPr id="49" name="Text 4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·  DEMO &amp; 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005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· 마무리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6035040" cy="3246120"/>
          </a:xfrm>
          <a:prstGeom prst="rect">
            <a:avLst/>
          </a:prstGeom>
          <a:solidFill>
            <a:srgbClr val="2E2E33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164" y="240944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시연 시나리오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188720" y="2880360"/>
            <a:ext cx="384048" cy="384048"/>
          </a:xfrm>
          <a:prstGeom prst="rect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1887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737360" y="2834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지번 진단  </a:t>
            </a:r>
            <a:r>
              <a:rPr lang="en-US" sz="1200" dirty="0">
                <a:solidFill>
                  <a:srgbClr val="C5C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충남 논산시 충곡리 200 → 규제·계통·지원·종합판정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188720" y="3447288"/>
            <a:ext cx="384048" cy="384048"/>
          </a:xfrm>
          <a:prstGeom prst="rect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118872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737360" y="34015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 사례  </a:t>
            </a:r>
            <a:r>
              <a:rPr lang="en-US" sz="1200" dirty="0">
                <a:solidFill>
                  <a:srgbClr val="C5C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계획관리지역(가능) vs 농림지역(제약) 비교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88720" y="4014216"/>
            <a:ext cx="384048" cy="384048"/>
          </a:xfrm>
          <a:prstGeom prst="rect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118872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737360" y="396849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진단  </a:t>
            </a:r>
            <a:r>
              <a:rPr lang="en-US" sz="1200" dirty="0">
                <a:solidFill>
                  <a:srgbClr val="C5C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"당진에 변전소 여유 있어?" → 계통 여유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188720" y="4581144"/>
            <a:ext cx="384048" cy="384048"/>
          </a:xfrm>
          <a:prstGeom prst="rect">
            <a:avLst/>
          </a:prstGeom>
          <a:solidFill>
            <a:srgbClr val="2F6E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1188720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737360" y="45354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랭킹  </a:t>
            </a:r>
            <a:r>
              <a:rPr lang="en-US" sz="1200" dirty="0">
                <a:solidFill>
                  <a:srgbClr val="C5C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"충남에서 좋은 곳 추천" → 점수 줄세움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178040" y="205740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E2"/>
            </a:solidFill>
            <a:prstDash val="solid"/>
          </a:ln>
          <a:effectLst>
            <a:outerShdw blurRad="889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745236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6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52360" y="26060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7종 + 자치법규 RAG로 소형 태양광 입지 판단을 보조하는 MVP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498080" y="37033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쿼터·하이브리드 검색으로 Recall 0.48→0.74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요약·판정, 숫자는 데이터 — 환각 방지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PC + 인터넷만으로 · 질문당 0.9원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914400" y="5897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 ·  질문을 받겠습니다 (Q</a:t>
            </a:r>
            <a:r>
              <a:rPr lang="en-US" sz="2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&amp;A)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2975</Words>
  <Application>Microsoft Office PowerPoint</Application>
  <PresentationFormat>와이드스크린</PresentationFormat>
  <Paragraphs>286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SolarFit — 소형 태양광 입지·수익 진단</dc:title>
  <dc:subject>PptxGenJS Presentation</dc:subject>
  <dc:creator>SolarFit Team</dc:creator>
  <cp:lastModifiedBy>Cw 8303</cp:lastModifiedBy>
  <cp:revision>3</cp:revision>
  <dcterms:created xsi:type="dcterms:W3CDTF">2026-06-06T11:14:28Z</dcterms:created>
  <dcterms:modified xsi:type="dcterms:W3CDTF">2026-06-06T11:27:23Z</dcterms:modified>
</cp:coreProperties>
</file>